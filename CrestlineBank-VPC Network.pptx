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9" r:id="rId9"/>
    <p:sldId id="264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78"/>
  </p:normalViewPr>
  <p:slideViewPr>
    <p:cSldViewPr snapToGrid="0">
      <p:cViewPr>
        <p:scale>
          <a:sx n="110" d="100"/>
          <a:sy n="110" d="100"/>
        </p:scale>
        <p:origin x="2456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840534-F24F-4FE8-AAF0-C8A84F442B2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C077AA-E984-44D7-851F-E78A559C410E}">
      <dgm:prSet/>
      <dgm:spPr/>
      <dgm:t>
        <a:bodyPr/>
        <a:lstStyle/>
        <a:p>
          <a:pPr>
            <a:lnSpc>
              <a:spcPct val="100000"/>
            </a:lnSpc>
          </a:pPr>
          <a:r>
            <a:rPr lang="en-TT" dirty="0"/>
            <a:t>Project: Infrastructure Modernization &amp; Multi-Tier VPC Network Design </a:t>
          </a:r>
          <a:endParaRPr lang="en-US" dirty="0"/>
        </a:p>
      </dgm:t>
    </dgm:pt>
    <dgm:pt modelId="{14A86FD6-4E09-40F0-BFB2-683EE3520D95}" type="parTrans" cxnId="{076D1132-5606-485C-8796-7A5A72E41F5E}">
      <dgm:prSet/>
      <dgm:spPr/>
      <dgm:t>
        <a:bodyPr/>
        <a:lstStyle/>
        <a:p>
          <a:endParaRPr lang="en-US"/>
        </a:p>
      </dgm:t>
    </dgm:pt>
    <dgm:pt modelId="{AF58BC4F-6397-4851-97AA-897CECF7B343}" type="sibTrans" cxnId="{076D1132-5606-485C-8796-7A5A72E41F5E}">
      <dgm:prSet/>
      <dgm:spPr/>
      <dgm:t>
        <a:bodyPr/>
        <a:lstStyle/>
        <a:p>
          <a:endParaRPr lang="en-US"/>
        </a:p>
      </dgm:t>
    </dgm:pt>
    <dgm:pt modelId="{C0AD7FB8-43ED-4B8B-A6BF-F80321DDBF30}">
      <dgm:prSet/>
      <dgm:spPr/>
      <dgm:t>
        <a:bodyPr/>
        <a:lstStyle/>
        <a:p>
          <a:pPr>
            <a:lnSpc>
              <a:spcPct val="100000"/>
            </a:lnSpc>
          </a:pPr>
          <a:r>
            <a:rPr lang="en-TT"/>
            <a:t>Presenter:  Anasieze Ikenna</a:t>
          </a:r>
          <a:endParaRPr lang="en-US"/>
        </a:p>
      </dgm:t>
    </dgm:pt>
    <dgm:pt modelId="{7892568F-A933-43FD-B7A3-3C03434ED7EF}" type="parTrans" cxnId="{14F389C6-9061-4F2E-8ABB-2FFD425416EF}">
      <dgm:prSet/>
      <dgm:spPr/>
      <dgm:t>
        <a:bodyPr/>
        <a:lstStyle/>
        <a:p>
          <a:endParaRPr lang="en-US"/>
        </a:p>
      </dgm:t>
    </dgm:pt>
    <dgm:pt modelId="{0A7B2EA0-8468-4EB5-99B0-C12E45B5CE92}" type="sibTrans" cxnId="{14F389C6-9061-4F2E-8ABB-2FFD425416EF}">
      <dgm:prSet/>
      <dgm:spPr/>
      <dgm:t>
        <a:bodyPr/>
        <a:lstStyle/>
        <a:p>
          <a:endParaRPr lang="en-US"/>
        </a:p>
      </dgm:t>
    </dgm:pt>
    <dgm:pt modelId="{EB16BDE6-9B0C-42FE-B5C9-1FB239AAC16C}" type="pres">
      <dgm:prSet presAssocID="{3E840534-F24F-4FE8-AAF0-C8A84F442B23}" presName="root" presStyleCnt="0">
        <dgm:presLayoutVars>
          <dgm:dir/>
          <dgm:resizeHandles val="exact"/>
        </dgm:presLayoutVars>
      </dgm:prSet>
      <dgm:spPr/>
    </dgm:pt>
    <dgm:pt modelId="{55D2C172-A80B-4894-BC8B-41F3C7E5DF01}" type="pres">
      <dgm:prSet presAssocID="{57C077AA-E984-44D7-851F-E78A559C410E}" presName="compNode" presStyleCnt="0"/>
      <dgm:spPr/>
    </dgm:pt>
    <dgm:pt modelId="{6819B055-70A6-4705-9D66-46C4AAA8941B}" type="pres">
      <dgm:prSet presAssocID="{57C077AA-E984-44D7-851F-E78A559C410E}" presName="bgRect" presStyleLbl="bgShp" presStyleIdx="0" presStyleCnt="2"/>
      <dgm:spPr/>
    </dgm:pt>
    <dgm:pt modelId="{DEAD7901-D9B8-4F35-9BF8-92F86AF5C180}" type="pres">
      <dgm:prSet presAssocID="{57C077AA-E984-44D7-851F-E78A559C410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557EEB49-C12F-4BE4-8A38-6F19A2EA5624}" type="pres">
      <dgm:prSet presAssocID="{57C077AA-E984-44D7-851F-E78A559C410E}" presName="spaceRect" presStyleCnt="0"/>
      <dgm:spPr/>
    </dgm:pt>
    <dgm:pt modelId="{BCAFB9EA-FAD1-4583-800D-FCB8DDC9281A}" type="pres">
      <dgm:prSet presAssocID="{57C077AA-E984-44D7-851F-E78A559C410E}" presName="parTx" presStyleLbl="revTx" presStyleIdx="0" presStyleCnt="2">
        <dgm:presLayoutVars>
          <dgm:chMax val="0"/>
          <dgm:chPref val="0"/>
        </dgm:presLayoutVars>
      </dgm:prSet>
      <dgm:spPr/>
    </dgm:pt>
    <dgm:pt modelId="{AA51707D-CFF4-4D63-BE85-2B48E9C6D5BE}" type="pres">
      <dgm:prSet presAssocID="{AF58BC4F-6397-4851-97AA-897CECF7B343}" presName="sibTrans" presStyleCnt="0"/>
      <dgm:spPr/>
    </dgm:pt>
    <dgm:pt modelId="{D2F77B50-B9DD-40F7-BAB0-0A396FA98318}" type="pres">
      <dgm:prSet presAssocID="{C0AD7FB8-43ED-4B8B-A6BF-F80321DDBF30}" presName="compNode" presStyleCnt="0"/>
      <dgm:spPr/>
    </dgm:pt>
    <dgm:pt modelId="{E857C3A1-5D39-4B74-9452-FD709CBDFB6A}" type="pres">
      <dgm:prSet presAssocID="{C0AD7FB8-43ED-4B8B-A6BF-F80321DDBF30}" presName="bgRect" presStyleLbl="bgShp" presStyleIdx="1" presStyleCnt="2"/>
      <dgm:spPr/>
    </dgm:pt>
    <dgm:pt modelId="{0A32FFC6-5376-4204-ACAF-4919143E7C98}" type="pres">
      <dgm:prSet presAssocID="{C0AD7FB8-43ED-4B8B-A6BF-F80321DDBF3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B12E52B0-AA56-4B79-9A2E-EA1193F9CC7A}" type="pres">
      <dgm:prSet presAssocID="{C0AD7FB8-43ED-4B8B-A6BF-F80321DDBF30}" presName="spaceRect" presStyleCnt="0"/>
      <dgm:spPr/>
    </dgm:pt>
    <dgm:pt modelId="{A067B2DC-8B1D-4239-A83B-92ABAFC11363}" type="pres">
      <dgm:prSet presAssocID="{C0AD7FB8-43ED-4B8B-A6BF-F80321DDBF3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5CA3D0E-16AB-4D6C-8112-8568508314E5}" type="presOf" srcId="{C0AD7FB8-43ED-4B8B-A6BF-F80321DDBF30}" destId="{A067B2DC-8B1D-4239-A83B-92ABAFC11363}" srcOrd="0" destOrd="0" presId="urn:microsoft.com/office/officeart/2018/2/layout/IconVerticalSolidList"/>
    <dgm:cxn modelId="{076D1132-5606-485C-8796-7A5A72E41F5E}" srcId="{3E840534-F24F-4FE8-AAF0-C8A84F442B23}" destId="{57C077AA-E984-44D7-851F-E78A559C410E}" srcOrd="0" destOrd="0" parTransId="{14A86FD6-4E09-40F0-BFB2-683EE3520D95}" sibTransId="{AF58BC4F-6397-4851-97AA-897CECF7B343}"/>
    <dgm:cxn modelId="{4B1C3D7B-E1EF-4532-9487-0B7095D4AE03}" type="presOf" srcId="{3E840534-F24F-4FE8-AAF0-C8A84F442B23}" destId="{EB16BDE6-9B0C-42FE-B5C9-1FB239AAC16C}" srcOrd="0" destOrd="0" presId="urn:microsoft.com/office/officeart/2018/2/layout/IconVerticalSolidList"/>
    <dgm:cxn modelId="{14F389C6-9061-4F2E-8ABB-2FFD425416EF}" srcId="{3E840534-F24F-4FE8-AAF0-C8A84F442B23}" destId="{C0AD7FB8-43ED-4B8B-A6BF-F80321DDBF30}" srcOrd="1" destOrd="0" parTransId="{7892568F-A933-43FD-B7A3-3C03434ED7EF}" sibTransId="{0A7B2EA0-8468-4EB5-99B0-C12E45B5CE92}"/>
    <dgm:cxn modelId="{D71E2EF7-3B2D-4EB4-907F-B7C877701306}" type="presOf" srcId="{57C077AA-E984-44D7-851F-E78A559C410E}" destId="{BCAFB9EA-FAD1-4583-800D-FCB8DDC9281A}" srcOrd="0" destOrd="0" presId="urn:microsoft.com/office/officeart/2018/2/layout/IconVerticalSolidList"/>
    <dgm:cxn modelId="{34060A80-20EE-430D-AE0D-6545C2AFF1B3}" type="presParOf" srcId="{EB16BDE6-9B0C-42FE-B5C9-1FB239AAC16C}" destId="{55D2C172-A80B-4894-BC8B-41F3C7E5DF01}" srcOrd="0" destOrd="0" presId="urn:microsoft.com/office/officeart/2018/2/layout/IconVerticalSolidList"/>
    <dgm:cxn modelId="{5CDAA7AD-D595-4D47-9ECD-0D92CF6FA7EA}" type="presParOf" srcId="{55D2C172-A80B-4894-BC8B-41F3C7E5DF01}" destId="{6819B055-70A6-4705-9D66-46C4AAA8941B}" srcOrd="0" destOrd="0" presId="urn:microsoft.com/office/officeart/2018/2/layout/IconVerticalSolidList"/>
    <dgm:cxn modelId="{94F15E9C-3F86-4905-BF2D-6DD8A34823F0}" type="presParOf" srcId="{55D2C172-A80B-4894-BC8B-41F3C7E5DF01}" destId="{DEAD7901-D9B8-4F35-9BF8-92F86AF5C180}" srcOrd="1" destOrd="0" presId="urn:microsoft.com/office/officeart/2018/2/layout/IconVerticalSolidList"/>
    <dgm:cxn modelId="{E5F8B967-89EC-4024-A519-451687602691}" type="presParOf" srcId="{55D2C172-A80B-4894-BC8B-41F3C7E5DF01}" destId="{557EEB49-C12F-4BE4-8A38-6F19A2EA5624}" srcOrd="2" destOrd="0" presId="urn:microsoft.com/office/officeart/2018/2/layout/IconVerticalSolidList"/>
    <dgm:cxn modelId="{10C7BB5D-BEB9-41D9-9EBF-8B8110524739}" type="presParOf" srcId="{55D2C172-A80B-4894-BC8B-41F3C7E5DF01}" destId="{BCAFB9EA-FAD1-4583-800D-FCB8DDC9281A}" srcOrd="3" destOrd="0" presId="urn:microsoft.com/office/officeart/2018/2/layout/IconVerticalSolidList"/>
    <dgm:cxn modelId="{47A0D09D-D63E-41BD-931C-977BC7B30BAD}" type="presParOf" srcId="{EB16BDE6-9B0C-42FE-B5C9-1FB239AAC16C}" destId="{AA51707D-CFF4-4D63-BE85-2B48E9C6D5BE}" srcOrd="1" destOrd="0" presId="urn:microsoft.com/office/officeart/2018/2/layout/IconVerticalSolidList"/>
    <dgm:cxn modelId="{D115C01C-F8E1-4523-9CFD-EF6880EB9286}" type="presParOf" srcId="{EB16BDE6-9B0C-42FE-B5C9-1FB239AAC16C}" destId="{D2F77B50-B9DD-40F7-BAB0-0A396FA98318}" srcOrd="2" destOrd="0" presId="urn:microsoft.com/office/officeart/2018/2/layout/IconVerticalSolidList"/>
    <dgm:cxn modelId="{2867343B-E27D-49B0-A502-2E069DC7E4EE}" type="presParOf" srcId="{D2F77B50-B9DD-40F7-BAB0-0A396FA98318}" destId="{E857C3A1-5D39-4B74-9452-FD709CBDFB6A}" srcOrd="0" destOrd="0" presId="urn:microsoft.com/office/officeart/2018/2/layout/IconVerticalSolidList"/>
    <dgm:cxn modelId="{F025D467-F010-4954-86A7-51E983AC1D37}" type="presParOf" srcId="{D2F77B50-B9DD-40F7-BAB0-0A396FA98318}" destId="{0A32FFC6-5376-4204-ACAF-4919143E7C98}" srcOrd="1" destOrd="0" presId="urn:microsoft.com/office/officeart/2018/2/layout/IconVerticalSolidList"/>
    <dgm:cxn modelId="{9FA0118B-0F1F-4464-9D6A-2CFDF2C29E26}" type="presParOf" srcId="{D2F77B50-B9DD-40F7-BAB0-0A396FA98318}" destId="{B12E52B0-AA56-4B79-9A2E-EA1193F9CC7A}" srcOrd="2" destOrd="0" presId="urn:microsoft.com/office/officeart/2018/2/layout/IconVerticalSolidList"/>
    <dgm:cxn modelId="{C30F49F0-08E6-4DEE-9D8E-8541D833BEBF}" type="presParOf" srcId="{D2F77B50-B9DD-40F7-BAB0-0A396FA98318}" destId="{A067B2DC-8B1D-4239-A83B-92ABAFC1136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19B055-70A6-4705-9D66-46C4AAA8941B}">
      <dsp:nvSpPr>
        <dsp:cNvPr id="0" name=""/>
        <dsp:cNvSpPr/>
      </dsp:nvSpPr>
      <dsp:spPr>
        <a:xfrm>
          <a:off x="0" y="297008"/>
          <a:ext cx="9569806" cy="5483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D7901-D9B8-4F35-9BF8-92F86AF5C180}">
      <dsp:nvSpPr>
        <dsp:cNvPr id="0" name=""/>
        <dsp:cNvSpPr/>
      </dsp:nvSpPr>
      <dsp:spPr>
        <a:xfrm>
          <a:off x="165867" y="420381"/>
          <a:ext cx="301577" cy="3015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AFB9EA-FAD1-4583-800D-FCB8DDC9281A}">
      <dsp:nvSpPr>
        <dsp:cNvPr id="0" name=""/>
        <dsp:cNvSpPr/>
      </dsp:nvSpPr>
      <dsp:spPr>
        <a:xfrm>
          <a:off x="633313" y="297008"/>
          <a:ext cx="8936492" cy="548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31" tIns="58031" rIns="58031" bIns="5803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T" sz="2300" kern="1200" dirty="0"/>
            <a:t>Project: Infrastructure Modernization &amp; Multi-Tier VPC Network Design </a:t>
          </a:r>
          <a:endParaRPr lang="en-US" sz="2300" kern="1200" dirty="0"/>
        </a:p>
      </dsp:txBody>
      <dsp:txXfrm>
        <a:off x="633313" y="297008"/>
        <a:ext cx="8936492" cy="548323"/>
      </dsp:txXfrm>
    </dsp:sp>
    <dsp:sp modelId="{E857C3A1-5D39-4B74-9452-FD709CBDFB6A}">
      <dsp:nvSpPr>
        <dsp:cNvPr id="0" name=""/>
        <dsp:cNvSpPr/>
      </dsp:nvSpPr>
      <dsp:spPr>
        <a:xfrm>
          <a:off x="0" y="982412"/>
          <a:ext cx="9569806" cy="5483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32FFC6-5376-4204-ACAF-4919143E7C98}">
      <dsp:nvSpPr>
        <dsp:cNvPr id="0" name=""/>
        <dsp:cNvSpPr/>
      </dsp:nvSpPr>
      <dsp:spPr>
        <a:xfrm>
          <a:off x="165867" y="1105785"/>
          <a:ext cx="301577" cy="3015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7B2DC-8B1D-4239-A83B-92ABAFC11363}">
      <dsp:nvSpPr>
        <dsp:cNvPr id="0" name=""/>
        <dsp:cNvSpPr/>
      </dsp:nvSpPr>
      <dsp:spPr>
        <a:xfrm>
          <a:off x="633313" y="982412"/>
          <a:ext cx="8936492" cy="5483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031" tIns="58031" rIns="58031" bIns="5803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TT" sz="2300" kern="1200"/>
            <a:t>Presenter:  Anasieze Ikenna</a:t>
          </a:r>
          <a:endParaRPr lang="en-US" sz="2300" kern="1200"/>
        </a:p>
      </dsp:txBody>
      <dsp:txXfrm>
        <a:off x="633313" y="982412"/>
        <a:ext cx="8936492" cy="5483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5:06:44.7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5:05:35.2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5:06:08.4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44 110 24575,'0'-10'0,"0"2"0,0-2 0,0 4 0,0-1 0,0 3 0,0 1 0,0 0 0,0 1 0,0-1 0,0 1 0,0-1 0,0 1 0,0-1 0,0 0 0,0-2 0,0 0 0,0 0 0,0 1 0,0-1 0,0 1 0,0 1 0,0 1 0,0-1 0,-1 1 0,-1 1 0,0 0 0,-4 1 0,1 1 0,-2 0 0,3 2 0,1 0 0,1-1 0,2 1 0,-1-1 0,0-1 0,0 1 0,1 0 0,-1 1 0,1 0 0,-2 1 0,1 0 0,0 1 0,0-1 0,1 1 0,0-1 0,0 0 0,0 0 0,-1-1 0,1 0 0,-1 0 0,0 0 0,1 0 0,0 0 0,0 0 0,0 1 0,0-1 0,0 1 0,0-1 0,0 0 0,0 0 0,0 0 0,0 0 0,0 0 0,0 0 0,0 1 0,0 0 0,0 1 0,0-1 0,0 1 0,0-1 0,0 1 0,0 1 0,0 1 0,0 0 0,0 0 0,0 0 0,0 0 0,0 0 0,0 0 0,0 0 0,0 0 0,0-1 0,0-1 0,0-1 0,0-1 0,0 0 0,1-1 0,0 1 0,1 0 0,1-1 0,0 0 0,0-1 0,1 1 0,-2 0 0,1 0 0,0 0 0,1 0 0,1 1 0,-2-1 0,0-1 0,0 1 0,0-1 0,0 1 0,0 0 0,-1 0 0,1-1 0,-1 0 0,0-1 0,1 1 0,0-1 0,3 0 0,0 0 0,2 0 0,1 0 0,0 0 0,2 0 0,-2 0 0,0 0 0,-2 0 0,0 0 0,0 0 0,0 0 0,-1 0 0,0 0 0,-1 0 0,-1 0 0,1 0 0,-1-1 0,1-1 0,1 0 0,-1-1 0,0 0 0,-1 1 0,1-1 0,-1 0 0,-1 0 0,1 1 0,-1-1 0,0 1 0,1 0 0,0-1 0,1-2 0,0 0 0,0 0 0,-2-1 0,0 2 0,0-1 0,-1-1 0,0 0 0,0 1 0,0 0 0,-1 0 0,0 1 0,0-1 0,-1-1 0,0 1 0,0 0 0,0 1 0,0-1 0,0 0 0,0 0 0,0-1 0,0 1 0,-1-1 0,-1 0 0,1 1 0,-1-1 0,0 1 0,1 0 0,-1 0 0,1 0 0,0 0 0,0 1 0,0 0 0,0 1 0,-1 0 0,1 0 0,0 1 0,0-1 0,0 0 0,0 1 0,1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6T15:06:23.5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241 89 24575,'-1'-5'0,"-1"2"0,-2 0 0,0 0 0,-2 0 0,1-1 0,-1 0 0,-2 0 0,3 1 0,-1-1 0,0 1 0,2 1 0,0-1 0,0 1 0,1-1 0,0 1 0,0 1 0,1-1 0,1 0 0,0 1 0,-1-1 0,1 0 0,-1 1 0,0-1 0,0 2 0,-1-1 0,1 0 0,-1 0 0,0 1 0,0 0 0,-1-1 0,0 1 0,-1 0 0,-1 0 0,1 0 0,-1 0 0,2 0 0,0 0 0,1 0 0,1 0 0,-1 0 0,1 0 0,-1 0 0,0 0 0,0 0 0,0 0 0,0 0 0,1 0 0,-1 0 0,1 0 0,-1 0 0,1 0 0,-1 0 0,1 1 0,0 1 0,1 0 0,-1 0 0,0-1 0,1-2 0,0 0 0,1-2 0,1 0 0,0 0 0,0 0 0,1 2 0,0 0 0,1 0 0,-1 0 0,0 0 0,0 0 0,1 0 0,-1 0 0,1 0 0,0 0 0,0 0 0,0 1 0,0 0 0,0-1 0,0 1 0,0-1 0,0 0 0,0 0 0,1 1 0,-1 0 0,1 0 0,0 0 0,0 0 0,0 0 0,0 0 0,0 0 0,0 0 0,0 0 0,0 0 0,0 0 0,-1 0 0,1 0 0,-1 0 0,-1 0 0,0 0 0,1 0 0,0 0 0,0 0 0,2 0 0,-1 0 0,0 1 0,-1 0 0,-1 0 0,1 1 0,1-1 0,-1 1 0,0 0 0,0 1 0,0-1 0,0 1 0,1 1 0,-1 1 0,0 2 0,0 0 0,-1 0 0,0-1 0,-1 0 0,1-1 0,-1 0 0,0-1 0,-1 1 0,1-1 0,-1 0 0,0-1 0,0 1 0,0 1 0,0 0 0,0 0 0,0 0 0,0-1 0,0 1 0,0-1 0,0 1 0,0 1 0,-1-1 0,0 0 0,0 0 0,-1-1 0,0 1 0,0 0 0,0 0 0,0-1 0,1-2 0,-1 1 0,1 0 0,0 0 0,0 1 0,-1 0 0,1-1 0,0 1 0,0-1 0,0 0 0,0 1 0,0 1 0,0-1 0,0 1 0,0-1 0,0 0 0,1 1 0,-1-1 0,0 0 0,0 0 0,1-1 0,0 1 0,-1-1 0,0 0 0,0 0 0,0 1 0,0-1 0,0 1 0,1-2 0,0 0 0,0-11 0,1 2 0,1-11 0,0 7 0,1-2 0,-1 3 0,-1 0 0,0 0 0,-1 0 0,0 0 0,0 0 0,0 1 0,0 1 0,0 0 0,0 1 0,0 0 0,0 0 0,0 2 0,0-1 0,-1 1 0,-1 0 0,0-1 0,0 0 0,0 0 0,0 1 0,1-1 0,-1 1 0,1-1 0,0 1 0,0-1 0,0 1 0,0 1 0,1 1 0,-1 0 0,0 2 0,0 1 0,0 1 0,0 3 0,1 1 0,0 2 0,0 4 0,0 0 0,0 2 0,0-2 0,0-2 0,0 0 0,0-1 0,0 1 0,0 0 0,0 1 0,0 0 0,0 0 0,0-2 0,0 1 0,0-3 0,0 2 0,0-2 0,0 0 0,0-1 0,0 1 0,0-1 0,0-2 0,0 1 0,0-1 0,0 0 0,0 1 0,0 0 0,0 1 0,0-1 0,0 2 0,0-1 0,0 1 0,0-1 0,0 0 0,0-1 0,0-1 0,0 0 0,0 0 0,0-1 0,0 1 0,0 1 0,0-1 0,0-1 0,-1-1 0,-1-4 0,-2-2 0,-2-2 0,1 1 0,-1 0 0,1-1 0,1-1 0,0 0 0,0 1 0,0 0 0,2 1 0,0-1 0,1 1 0,1 1 0,0 1 0,0 0 0,0 1 0,0-1 0,0 1 0,0-2 0,0-1 0,0 0 0,0-1 0,0 0 0,0 2 0,0 0 0,0 1 0,0 0 0,0 0 0,0-1 0,0 1 0,0-1 0,0 0 0,0 0 0,0-1 0,0 1 0,0-1 0,0 0 0,0 1 0,0 1 0,0 0 0,0 0 0,0 0 0,0 0 0,0 0 0,0 0 0,0 0 0,0 1 0,0 0 0,0 0 0,0 1 0,0 14 0,1-6 0,1 13 0,0-11 0,0 1 0,0-3 0,-1 1 0,1 0 0,-1-1 0,1-1 0,-1-1 0,0 0 0,0-1 0,-1 0 0,0 1 0,0-2 0,0 1 0,0 0 0,0 0 0,0 0 0,0 1 0,0-1 0,0 1 0,0-1 0,0 1 0,0 2 0,0-1 0,0 0 0,0-1 0,0-1 0,0 1 0,0 0 0,0 0 0,0 0 0,0 0 0,0-1 0,0 0 0,0 0 0,0 0 0,0 0 0,-1 0 0,0 1 0,0-1 0,-1 0 0,0-1 0,0 0 0,1-2 0,-2 1 0,2-1 0,-1 1 0,0-1 0,0 1 0,0-1 0,-1 0 0,0 0 0,1 0 0,-1 0 0,-1 0 0,0 0 0,-1 0 0,2 0 0,0 0 0,0 0 0,0 0 0,0 0 0,0 0 0,-1 0 0,1 0 0,1 0 0,-1 0 0,1 0 0,0-2 0,-1 0 0,1-2 0,-1 0 0,2 0 0,-2 0 0,0-2 0,-1-1 0,-1-1 0,2-2 0,-1-1 0,2-1 0,0 0 0,1 2 0,0 3 0,0 1 0,0 0 0,1-2 0,0 1 0,0-1 0,0 1 0,0 2 0,0-1 0,0 2 0,0 0 0,0 1 0,0-2 0,0 1 0,0-2 0,0 0 0,0 0 0,0-1 0,0 1 0,0 1 0,0 0 0,0 2 0,0-1 0,0 2 0,1 0 0,0 0 0,0 0 0,1 0 0,0 1 0,0 0 0,1 1 0,0 0 0,0 0 0,1 0 0,-2 2 0,0 1 0,-1 2 0,0 1 0,0-1 0,0 1 0,0 1 0,0-2 0,0 0 0,0-1 0,0-1 0,0 0 0,0 0 0,-1 0 0,0 0 0,0 1 0,1 0 0,0 0 0,-1 2 0,1 1 0,-1 0 0,0-1 0,0 1 0,0-2 0,0 0 0,0-1 0,0 0 0,0 0 0,0 0 0,0-1 0,0 1 0,0 0 0,0 1 0,0 0 0,0-1 0,0 1 0,0-1 0,1 1 0,0-1 0,0 1 0,-1-1 0,0 0 0,1 1 0,0 0 0,0 0 0,-1 0 0,1 0 0,1-1 0,-1-1 0,0-1 0,-1 0 0,1 0 0,0 0 0,1 1 0,0-1 0,0-1 0,1-1 0,0 0 0,0 0 0,0 0 0,0 0 0,0 0 0,-1 0 0,1 0 0,0 0 0,0 0 0,0 0 0,0 0 0,1 0 0,-2 0 0,1 0 0,-1 1 0,-1 0 0,0 1 0,-1 0 0,0 1 0,0 1 0,0 0 0,0-1 0,0 0 0,0 1 0,-1-1 0,0-1 0,-1-1 0,0 0 0,-1 0 0,1 0 0,-1 0 0,0-1 0,1 0 0,-1 0 0,1 0 0,-1 0 0,-1 0 0,1 0 0,-1 0 0,0 0 0,1 0 0,-1 0 0,1 0 0,0 0 0,0 0 0,0 0 0,0 0 0,0 0 0,-1 0 0,1 0 0,-2 0 0,0 0 0,-1 0 0,0 0 0,0-1 0,0-1 0,1-1 0,1 0 0,0-1 0,1 0 0,0 0 0,0 0 0,1-1 0,0 1 0,0 0 0,0 1 0,2 0 0,0 0 0,0-1 0,0 0 0,0 0 0,0 1 0,0 1 0,0 2 0,1 1 0,1 2 0,2 0 0,0 1 0,0 0 0,0 1 0,0 0 0,-1 0 0,1-1 0,-1 0 0,-1 0 0,1-1 0,-1 0 0,0 0 0,0 0 0,-1-1 0,1 1 0,-1-1 0,0 0 0,1 1 0,-2-1 0,2 0 0,-2-1 0,1-5 0,0 0 0,0-7 0,2-2 0,1-5 0,2-3 0,0-2 0,0-3 0,-1 1 0,-1 2 0,-1 5 0,-1 4 0,-1 2 0,1 3 0,-2 3 0,0 1 0,0 0 0,0 1 0,0 0 0,0 1 0,0-1 0,0 0 0,0 0 0,0-1 0,0 0 0,0 0 0,1 0 0,0 0 0,0 0 0,0 1 0,-1 1 0,1 2 0,1 4 0,1 0 0,1 2 0,-1-1 0,1 0 0,2 1 0,0 0 0,1 2 0,0 0 0,0 0 0,0 0 0,0-2 0,-2 0 0,-1-1 0,0-2 0,-2 1 0,1 0 0,0 0 0,0 1 0,1 0 0,-1 0 0,0 1 0,0-1 0,-1 1 0,0-1 0,0-1 0,-1 0 0,1 0 0,0-1 0,0 0 0,0-1 0,-1-1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41DA6-3767-2541-B18F-F8C8E580A1C5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D9232-9A9D-1D4C-B651-F9F2F8104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569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349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67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75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61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752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92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20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319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999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79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thank-you-signage-2072165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F1240-3698-BA70-EF55-EF7A18306A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TT" b="1" dirty="0"/>
              <a:t>Crestline Bank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6F070-C869-AFB5-5EF4-D5201ADB7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TT" sz="1800" b="1" dirty="0"/>
              <a:t>Cloud Network DESIGN &amp; Migration</a:t>
            </a:r>
            <a:endParaRPr lang="en-US" sz="1800" dirty="0"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B08EED9E-7603-BAC2-6ED8-FF6B0CF6328A}"/>
              </a:ext>
            </a:extLst>
          </p:cNvPr>
          <p:cNvGraphicFramePr/>
          <p:nvPr/>
        </p:nvGraphicFramePr>
        <p:xfrm>
          <a:off x="581191" y="3676058"/>
          <a:ext cx="9569806" cy="1827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901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6708-6D2A-84A1-9905-0596A4335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5"/>
            <a:ext cx="11029616" cy="1137277"/>
          </a:xfrm>
        </p:spPr>
        <p:txBody>
          <a:bodyPr/>
          <a:lstStyle/>
          <a:p>
            <a:pPr algn="ctr"/>
            <a:r>
              <a:rPr lang="en-TT" dirty="0"/>
              <a:t>Project Background &amp; Objective</a:t>
            </a:r>
            <a:br>
              <a:rPr lang="en-TT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37A47-B08F-09ED-D120-DF6C5F3E9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TT" b="1" dirty="0"/>
              <a:t>Current State Architecture:</a:t>
            </a:r>
            <a:r>
              <a:rPr lang="en-TT" dirty="0"/>
              <a:t> Core banking running on a single on-premises server with zero redundancy, no network isolation, and unsafe direct internet exposure. </a:t>
            </a:r>
          </a:p>
          <a:p>
            <a:pPr>
              <a:lnSpc>
                <a:spcPct val="150000"/>
              </a:lnSpc>
            </a:pPr>
            <a:r>
              <a:rPr lang="en-TT" b="1" dirty="0"/>
              <a:t>The Core Directive:</a:t>
            </a:r>
            <a:r>
              <a:rPr lang="en-TT" dirty="0"/>
              <a:t> No internal backend system or database should ever be directly reachable from the public internet.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B2B9275-2092-E8E0-D070-84DF44ED9CCF}"/>
                  </a:ext>
                </a:extLst>
              </p14:cNvPr>
              <p14:cNvContentPartPr/>
              <p14:nvPr/>
            </p14:nvContentPartPr>
            <p14:xfrm>
              <a:off x="2459004" y="3655888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B2B9275-2092-E8E0-D070-84DF44ED9C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52884" y="364976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7646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39F0-A850-F79A-C98F-C38CCFE654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55270" y="636588"/>
            <a:ext cx="9676435" cy="7016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>
                <a:solidFill>
                  <a:srgbClr val="002060"/>
                </a:solidFill>
              </a:rPr>
              <a:t>VPC Environment Scale &amp; CIDR Strategy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0F6FB854-1C59-1666-67D7-4CAB15B5378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t="-303" r="1" b="3761"/>
          <a:stretch>
            <a:fillRect/>
          </a:stretch>
        </p:blipFill>
        <p:spPr>
          <a:xfrm>
            <a:off x="1323489" y="1488734"/>
            <a:ext cx="9313645" cy="2854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2A2476-C9BB-E6D2-56D0-F8666214A4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91"/>
          <a:stretch>
            <a:fillRect/>
          </a:stretch>
        </p:blipFill>
        <p:spPr>
          <a:xfrm>
            <a:off x="1323489" y="4537276"/>
            <a:ext cx="9313645" cy="20942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928323-BE62-D546-CDEE-012435BD8EA1}"/>
              </a:ext>
            </a:extLst>
          </p:cNvPr>
          <p:cNvSpPr txBox="1"/>
          <p:nvPr/>
        </p:nvSpPr>
        <p:spPr>
          <a:xfrm>
            <a:off x="266218" y="20255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66F8DB0-FC97-EACD-0D59-F1EA073777C5}"/>
                  </a:ext>
                </a:extLst>
              </p14:cNvPr>
              <p14:cNvContentPartPr/>
              <p14:nvPr/>
            </p14:nvContentPartPr>
            <p14:xfrm>
              <a:off x="7173560" y="6484115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66F8DB0-FC97-EACD-0D59-F1EA073777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67440" y="647799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40A51F8-6538-4E89-464B-71AC6FE81B0A}"/>
                  </a:ext>
                </a:extLst>
              </p14:cNvPr>
              <p14:cNvContentPartPr/>
              <p14:nvPr/>
            </p14:nvContentPartPr>
            <p14:xfrm>
              <a:off x="7169615" y="6405570"/>
              <a:ext cx="101880" cy="99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40A51F8-6538-4E89-464B-71AC6FE81B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63495" y="6399450"/>
                <a:ext cx="1141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D8D13D9-2549-4728-FA07-6B965C5FD413}"/>
                  </a:ext>
                </a:extLst>
              </p14:cNvPr>
              <p14:cNvContentPartPr/>
              <p14:nvPr/>
            </p14:nvContentPartPr>
            <p14:xfrm>
              <a:off x="7170695" y="6389730"/>
              <a:ext cx="87120" cy="1134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D8D13D9-2549-4728-FA07-6B965C5FD4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64575" y="6383610"/>
                <a:ext cx="99360" cy="12564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itle 1">
            <a:extLst>
              <a:ext uri="{FF2B5EF4-FFF2-40B4-BE49-F238E27FC236}">
                <a16:creationId xmlns:a16="http://schemas.microsoft.com/office/drawing/2014/main" id="{27E44DEB-CDC5-7D83-8F4E-9074DE746C16}"/>
              </a:ext>
            </a:extLst>
          </p:cNvPr>
          <p:cNvSpPr txBox="1">
            <a:spLocks/>
          </p:cNvSpPr>
          <p:nvPr/>
        </p:nvSpPr>
        <p:spPr>
          <a:xfrm>
            <a:off x="4183667" y="1334633"/>
            <a:ext cx="3168854" cy="6232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Production   </a:t>
            </a:r>
            <a:r>
              <a:rPr lang="en-US" sz="2400" b="1" dirty="0" err="1">
                <a:solidFill>
                  <a:schemeClr val="tx1"/>
                </a:solidFill>
              </a:rPr>
              <a:t>Vpc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604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0ED196-FE38-DC86-C6BA-5DFBE6B17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TT" sz="2000" dirty="0"/>
              <a:t>PRODUCTION VPC, Traffic Control &amp; Gateway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F9ADB-D726-B20E-D529-006C01335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803705"/>
            <a:ext cx="3409782" cy="4352139"/>
          </a:xfrm>
        </p:spPr>
        <p:txBody>
          <a:bodyPr>
            <a:normAutofit/>
          </a:bodyPr>
          <a:lstStyle/>
          <a:p>
            <a:r>
              <a:rPr lang="en-TT" sz="1400" dirty="0">
                <a:solidFill>
                  <a:schemeClr val="bg1"/>
                </a:solidFill>
              </a:rPr>
              <a:t>Single Internet Gateway (IGW) for public routing and an active NAT Gateway deployed in the AZ 1A public tier to execute outgoing private app requests. </a:t>
            </a:r>
          </a:p>
          <a:p>
            <a:pPr marL="0" indent="0">
              <a:buNone/>
            </a:pPr>
            <a:endParaRPr lang="en-TT" sz="1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TT" sz="1400" b="1" dirty="0">
                <a:solidFill>
                  <a:schemeClr val="bg1"/>
                </a:solidFill>
              </a:rPr>
              <a:t>Route Table Segregation:</a:t>
            </a:r>
            <a:endParaRPr lang="en-TT" sz="1400" dirty="0">
              <a:solidFill>
                <a:schemeClr val="bg1"/>
              </a:solidFill>
            </a:endParaRPr>
          </a:p>
          <a:p>
            <a:r>
              <a:rPr lang="en-TT" sz="1400" i="1" dirty="0">
                <a:solidFill>
                  <a:schemeClr val="bg1"/>
                </a:solidFill>
              </a:rPr>
              <a:t>Public Route Table:</a:t>
            </a:r>
            <a:r>
              <a:rPr lang="en-TT" sz="1400" dirty="0">
                <a:solidFill>
                  <a:schemeClr val="bg1"/>
                </a:solidFill>
              </a:rPr>
              <a:t> 0.0.0.0/0 =====</a:t>
            </a:r>
            <a:r>
              <a:rPr lang="en-TT" sz="1400" dirty="0">
                <a:solidFill>
                  <a:schemeClr val="bg1"/>
                </a:solidFill>
                <a:sym typeface="Wingdings" pitchFamily="2" charset="2"/>
              </a:rPr>
              <a:t></a:t>
            </a:r>
            <a:r>
              <a:rPr lang="en-TT" sz="1400" dirty="0">
                <a:solidFill>
                  <a:schemeClr val="bg1"/>
                </a:solidFill>
              </a:rPr>
              <a:t> Internet Gateway. </a:t>
            </a:r>
          </a:p>
          <a:p>
            <a:r>
              <a:rPr lang="en-TT" sz="1400" i="1" dirty="0">
                <a:solidFill>
                  <a:schemeClr val="bg1"/>
                </a:solidFill>
              </a:rPr>
              <a:t>Private App Route Table:</a:t>
            </a:r>
            <a:r>
              <a:rPr lang="en-TT" sz="1400" dirty="0">
                <a:solidFill>
                  <a:schemeClr val="bg1"/>
                </a:solidFill>
              </a:rPr>
              <a:t> 0.0.0.0/0 =====</a:t>
            </a:r>
            <a:r>
              <a:rPr lang="en-TT" sz="1400" dirty="0">
                <a:solidFill>
                  <a:schemeClr val="bg1"/>
                </a:solidFill>
                <a:sym typeface="Wingdings" pitchFamily="2" charset="2"/>
              </a:rPr>
              <a:t></a:t>
            </a:r>
            <a:r>
              <a:rPr lang="en-TT" sz="1400" dirty="0">
                <a:solidFill>
                  <a:schemeClr val="bg1"/>
                </a:solidFill>
              </a:rPr>
              <a:t> NAT Gateway (enables secure, outbound-only system updates). </a:t>
            </a:r>
          </a:p>
          <a:p>
            <a:r>
              <a:rPr lang="en-TT" sz="1400" i="1" dirty="0">
                <a:solidFill>
                  <a:schemeClr val="bg1"/>
                </a:solidFill>
              </a:rPr>
              <a:t>Database Route Table:</a:t>
            </a:r>
            <a:r>
              <a:rPr lang="en-TT" sz="1400" dirty="0">
                <a:solidFill>
                  <a:schemeClr val="bg1"/>
                </a:solidFill>
              </a:rPr>
              <a:t> </a:t>
            </a:r>
            <a:r>
              <a:rPr lang="en-TT" sz="1400" b="1" dirty="0">
                <a:solidFill>
                  <a:schemeClr val="bg1"/>
                </a:solidFill>
              </a:rPr>
              <a:t>No default internet route.</a:t>
            </a:r>
            <a:r>
              <a:rPr lang="en-TT" sz="1400" dirty="0">
                <a:solidFill>
                  <a:schemeClr val="bg1"/>
                </a:solidFill>
              </a:rPr>
              <a:t> Completely isolated from the internet. </a:t>
            </a:r>
          </a:p>
          <a:p>
            <a:pPr>
              <a:lnSpc>
                <a:spcPct val="90000"/>
              </a:lnSpc>
            </a:pP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ABE489-4D5B-C4C2-1BEB-C813B07F3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854" y="863709"/>
            <a:ext cx="8022085" cy="513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7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39677-82B6-0021-54C6-72FA79074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TT" dirty="0"/>
              <a:t>Layer 1 Defence: Stateful Security Groups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AFD16-14D9-B09A-089C-8AE33ACC5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53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TT" b="1" dirty="0"/>
              <a:t>SG-Web-Tier:</a:t>
            </a:r>
            <a:r>
              <a:rPr lang="en-TT" dirty="0"/>
              <a:t> Accepts inbound 80/443 from anywhere (0.0.0.0/0), and Port 22 strictly restricted to the administrator IP address. </a:t>
            </a:r>
          </a:p>
          <a:p>
            <a:pPr>
              <a:lnSpc>
                <a:spcPct val="150000"/>
              </a:lnSpc>
            </a:pPr>
            <a:r>
              <a:rPr lang="en-TT" b="1" dirty="0"/>
              <a:t>SG-App-Tier:</a:t>
            </a:r>
            <a:r>
              <a:rPr lang="en-TT" dirty="0"/>
              <a:t> Inbound restricted strictly to traffic originating from </a:t>
            </a:r>
            <a:r>
              <a:rPr lang="en-TT" b="1" dirty="0"/>
              <a:t>SG-Web-Tier</a:t>
            </a:r>
            <a:r>
              <a:rPr lang="en-TT" dirty="0"/>
              <a:t> on port 8080 and port 22. No direct external connection. </a:t>
            </a:r>
          </a:p>
          <a:p>
            <a:pPr>
              <a:lnSpc>
                <a:spcPct val="150000"/>
              </a:lnSpc>
            </a:pPr>
            <a:r>
              <a:rPr lang="en-TT" b="1" dirty="0"/>
              <a:t>SG-DB-Tier:</a:t>
            </a:r>
            <a:r>
              <a:rPr lang="en-TT" dirty="0"/>
              <a:t> Inbound restricted strictly to traffic originating from </a:t>
            </a:r>
            <a:r>
              <a:rPr lang="en-TT" b="1" dirty="0"/>
              <a:t>SG-App-Tier</a:t>
            </a:r>
            <a:r>
              <a:rPr lang="en-TT" dirty="0"/>
              <a:t> on port 3306. </a:t>
            </a:r>
          </a:p>
          <a:p>
            <a:pPr>
              <a:lnSpc>
                <a:spcPct val="150000"/>
              </a:lnSpc>
            </a:pPr>
            <a:r>
              <a:rPr lang="en-TT" b="1" dirty="0"/>
              <a:t>Stateful Execution:</a:t>
            </a:r>
            <a:r>
              <a:rPr lang="en-TT" dirty="0"/>
              <a:t> Outbound rules are tightly scoped to local boundaries, leveraging AWS stateful tracking to handle response without opening broad outbound ports.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372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64295-E5B3-9545-0D5B-E5B0D7476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TT" dirty="0"/>
              <a:t>Layer 2 Defence: Stateless Network ACLs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A77B1-36D8-7220-8A5D-6EB7189DE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T" b="1" dirty="0"/>
              <a:t>Stateless Network Protection: </a:t>
            </a:r>
            <a:r>
              <a:rPr lang="en-TT" dirty="0"/>
              <a:t>Unlike security groups, NACLs require explicit rules for both incoming and outgoing packet flows. </a:t>
            </a:r>
          </a:p>
          <a:p>
            <a:r>
              <a:rPr lang="en-TT" b="1" dirty="0"/>
              <a:t>The Ephemeral Port 1024-65535: </a:t>
            </a:r>
            <a:r>
              <a:rPr lang="en-TT" dirty="0"/>
              <a:t>The network layer does not track active sessions, high-range client-side ports must remain explicitly open to allow return communication from servers. </a:t>
            </a:r>
          </a:p>
          <a:p>
            <a:r>
              <a:rPr lang="en-TT" b="1" dirty="0"/>
              <a:t>Fail-Safe Layering:</a:t>
            </a:r>
            <a:r>
              <a:rPr lang="en-TT" dirty="0"/>
              <a:t> Strict catch-all DENY rules ensure that if an accidental rule is made at the security group layer, the NACL drops unauthorized traversal at the subnet boundary.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179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FB3A8-7454-6980-DF67-2308714EC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TT" sz="2600"/>
              <a:t>Operations VPC &amp; Cross-VPC Peering</a:t>
            </a:r>
            <a:endParaRPr lang="en-US" sz="2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DD027-3DB3-6A79-F63D-6E9EB384D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TT" sz="1400" b="1" dirty="0">
                <a:solidFill>
                  <a:schemeClr val="bg1"/>
                </a:solidFill>
              </a:rPr>
              <a:t>The Ops Domain:</a:t>
            </a:r>
            <a:r>
              <a:rPr lang="en-TT" sz="1400" dirty="0">
                <a:solidFill>
                  <a:schemeClr val="bg1"/>
                </a:solidFill>
              </a:rPr>
              <a:t> Operations VPC (10.0.4.0/25) hosting an internal, isolated server. </a:t>
            </a:r>
          </a:p>
          <a:p>
            <a:pPr>
              <a:lnSpc>
                <a:spcPct val="90000"/>
              </a:lnSpc>
            </a:pPr>
            <a:r>
              <a:rPr lang="en-TT" sz="1400" b="1" dirty="0">
                <a:solidFill>
                  <a:schemeClr val="bg1"/>
                </a:solidFill>
              </a:rPr>
              <a:t>EC2 Instance Connect:</a:t>
            </a:r>
            <a:r>
              <a:rPr lang="en-TT" sz="1400" dirty="0">
                <a:solidFill>
                  <a:schemeClr val="bg1"/>
                </a:solidFill>
              </a:rPr>
              <a:t> Access our Operations instance through a secure browser based client attached endpoint in the Ops private subnet. </a:t>
            </a:r>
          </a:p>
          <a:p>
            <a:pPr>
              <a:lnSpc>
                <a:spcPct val="90000"/>
              </a:lnSpc>
            </a:pPr>
            <a:r>
              <a:rPr lang="en-TT" sz="1400" b="1" dirty="0">
                <a:solidFill>
                  <a:schemeClr val="bg1"/>
                </a:solidFill>
              </a:rPr>
              <a:t>VPC Peering:</a:t>
            </a:r>
            <a:r>
              <a:rPr lang="en-TT" sz="1400" dirty="0">
                <a:solidFill>
                  <a:schemeClr val="bg1"/>
                </a:solidFill>
              </a:rPr>
              <a:t> Encrypted private connection running directly across AWS infrastructure—bypassing the public internet entirely. </a:t>
            </a:r>
          </a:p>
          <a:p>
            <a:pPr>
              <a:lnSpc>
                <a:spcPct val="90000"/>
              </a:lnSpc>
            </a:pPr>
            <a:r>
              <a:rPr lang="en-TT" sz="1400" b="1" dirty="0">
                <a:solidFill>
                  <a:schemeClr val="bg1"/>
                </a:solidFill>
              </a:rPr>
              <a:t>Access Control:</a:t>
            </a:r>
            <a:r>
              <a:rPr lang="en-TT" sz="1400" dirty="0">
                <a:solidFill>
                  <a:schemeClr val="bg1"/>
                </a:solidFill>
              </a:rPr>
              <a:t> Route tables updated on both ends to forward cross-VPC traffic through the peering connection. </a:t>
            </a:r>
          </a:p>
          <a:p>
            <a:pPr>
              <a:lnSpc>
                <a:spcPct val="90000"/>
              </a:lnSpc>
            </a:pPr>
            <a:r>
              <a:rPr lang="en-TT" sz="1400" b="1" dirty="0">
                <a:solidFill>
                  <a:schemeClr val="bg1"/>
                </a:solidFill>
              </a:rPr>
              <a:t>Least Privilege:</a:t>
            </a:r>
            <a:r>
              <a:rPr lang="en-TT" sz="1400" dirty="0">
                <a:solidFill>
                  <a:schemeClr val="bg1"/>
                </a:solidFill>
              </a:rPr>
              <a:t> Production </a:t>
            </a:r>
            <a:r>
              <a:rPr lang="en-TT" sz="1400" b="1" dirty="0">
                <a:solidFill>
                  <a:schemeClr val="bg1"/>
                </a:solidFill>
              </a:rPr>
              <a:t>SG-App-Tier</a:t>
            </a:r>
            <a:r>
              <a:rPr lang="en-TT" sz="1400" dirty="0">
                <a:solidFill>
                  <a:schemeClr val="bg1"/>
                </a:solidFill>
              </a:rPr>
              <a:t> explicitly allows SSH (Port 22) only if the origin request maps back to the exact Ops VPC CIDR block. </a:t>
            </a:r>
          </a:p>
        </p:txBody>
      </p:sp>
    </p:spTree>
    <p:extLst>
      <p:ext uri="{BB962C8B-B14F-4D97-AF65-F5344CB8AC3E}">
        <p14:creationId xmlns:p14="http://schemas.microsoft.com/office/powerpoint/2010/main" val="1650665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7D26DA-9773-4A0E-B213-DDF20A1F1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58F8DE-13E1-1266-3B5B-17DDAAC6D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8655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E7CD069-8F5E-80AE-6392-DD76FB33826D}"/>
              </a:ext>
            </a:extLst>
          </p:cNvPr>
          <p:cNvSpPr txBox="1">
            <a:spLocks/>
          </p:cNvSpPr>
          <p:nvPr/>
        </p:nvSpPr>
        <p:spPr>
          <a:xfrm>
            <a:off x="7614064" y="137766"/>
            <a:ext cx="3981691" cy="62327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schemeClr val="accent1"/>
                </a:solidFill>
              </a:rPr>
              <a:t>FULL VPC LAYOUT</a:t>
            </a:r>
          </a:p>
        </p:txBody>
      </p:sp>
    </p:spTree>
    <p:extLst>
      <p:ext uri="{BB962C8B-B14F-4D97-AF65-F5344CB8AC3E}">
        <p14:creationId xmlns:p14="http://schemas.microsoft.com/office/powerpoint/2010/main" val="1996413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294DA-CD40-2E28-F1E4-E9E8C7D9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TT" dirty="0"/>
              <a:t>Proof of Isolation Matrix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671F65-1080-0389-E8FA-F8F2DA3702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4734545"/>
              </p:ext>
            </p:extLst>
          </p:nvPr>
        </p:nvGraphicFramePr>
        <p:xfrm>
          <a:off x="581192" y="2279168"/>
          <a:ext cx="11029616" cy="3876676"/>
        </p:xfrm>
        <a:graphic>
          <a:graphicData uri="http://schemas.openxmlformats.org/drawingml/2006/table">
            <a:tbl>
              <a:tblPr/>
              <a:tblGrid>
                <a:gridCol w="505522">
                  <a:extLst>
                    <a:ext uri="{9D8B030D-6E8A-4147-A177-3AD203B41FA5}">
                      <a16:colId xmlns:a16="http://schemas.microsoft.com/office/drawing/2014/main" val="377269544"/>
                    </a:ext>
                  </a:extLst>
                </a:gridCol>
                <a:gridCol w="2219258">
                  <a:extLst>
                    <a:ext uri="{9D8B030D-6E8A-4147-A177-3AD203B41FA5}">
                      <a16:colId xmlns:a16="http://schemas.microsoft.com/office/drawing/2014/main" val="3375206276"/>
                    </a:ext>
                  </a:extLst>
                </a:gridCol>
                <a:gridCol w="2031741">
                  <a:extLst>
                    <a:ext uri="{9D8B030D-6E8A-4147-A177-3AD203B41FA5}">
                      <a16:colId xmlns:a16="http://schemas.microsoft.com/office/drawing/2014/main" val="1318406900"/>
                    </a:ext>
                  </a:extLst>
                </a:gridCol>
                <a:gridCol w="1706882">
                  <a:extLst>
                    <a:ext uri="{9D8B030D-6E8A-4147-A177-3AD203B41FA5}">
                      <a16:colId xmlns:a16="http://schemas.microsoft.com/office/drawing/2014/main" val="2162123288"/>
                    </a:ext>
                  </a:extLst>
                </a:gridCol>
                <a:gridCol w="4566213">
                  <a:extLst>
                    <a:ext uri="{9D8B030D-6E8A-4147-A177-3AD203B41FA5}">
                      <a16:colId xmlns:a16="http://schemas.microsoft.com/office/drawing/2014/main" val="635160994"/>
                    </a:ext>
                  </a:extLst>
                </a:gridCol>
              </a:tblGrid>
              <a:tr h="556161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#</a:t>
                      </a:r>
                      <a:endParaRPr lang="en-TT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 Sequence </a:t>
                      </a:r>
                      <a:endParaRPr lang="en-TT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Target</a:t>
                      </a:r>
                      <a:endParaRPr lang="en-TT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Expected Outcome</a:t>
                      </a:r>
                      <a:endParaRPr lang="en-TT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Security Validation </a:t>
                      </a:r>
                      <a:endParaRPr lang="en-TT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4997"/>
                  </a:ext>
                </a:extLst>
              </a:tr>
              <a:tr h="545743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endParaRPr lang="en-TT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External SSH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Web-Server-1</a:t>
                      </a:r>
                      <a:r>
                        <a:rPr lang="en-TT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 dirty="0">
                          <a:solidFill>
                            <a:srgbClr val="00B050"/>
                          </a:solidFill>
                          <a:effectLst/>
                          <a:latin typeface="Google Sans Text"/>
                        </a:rPr>
                        <a:t>SUCCESS</a:t>
                      </a:r>
                      <a:r>
                        <a:rPr lang="en-TT" sz="1400" dirty="0">
                          <a:solidFill>
                            <a:srgbClr val="00B050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Public routing &amp; IGW operations function correctly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073504"/>
                  </a:ext>
                </a:extLst>
              </a:tr>
              <a:tr h="402801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  <a:endParaRPr lang="en-TT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Internal SSH Hop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App-Server-1</a:t>
                      </a:r>
                      <a:r>
                        <a:rPr lang="en-TT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 dirty="0">
                          <a:solidFill>
                            <a:srgbClr val="00B050"/>
                          </a:solidFill>
                          <a:effectLst/>
                          <a:latin typeface="Google Sans Text"/>
                        </a:rPr>
                        <a:t>SUCCESS</a:t>
                      </a:r>
                      <a:r>
                        <a:rPr lang="en-TT" sz="1400" dirty="0">
                          <a:solidFill>
                            <a:srgbClr val="00B050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 tier accepts traffic from Web tier via SG chaining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442961"/>
                  </a:ext>
                </a:extLst>
              </a:tr>
              <a:tr h="613458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</a:t>
                      </a:r>
                      <a:endParaRPr lang="en-TT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 Outbound Web Request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google.com</a:t>
                      </a:r>
                      <a:r>
                        <a:rPr lang="en-TT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via curl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 dirty="0">
                          <a:solidFill>
                            <a:srgbClr val="00B050"/>
                          </a:solidFill>
                          <a:effectLst/>
                          <a:latin typeface="Google Sans Text"/>
                        </a:rPr>
                        <a:t>SUCCESS</a:t>
                      </a:r>
                      <a:r>
                        <a:rPr lang="en-TT" sz="1400" dirty="0">
                          <a:solidFill>
                            <a:srgbClr val="00B050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Private App subnet correctly routes out through NAT Gateway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955348"/>
                  </a:ext>
                </a:extLst>
              </a:tr>
              <a:tr h="428264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  <a:endParaRPr lang="en-TT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Direct Public SSH Attack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App-Server-1</a:t>
                      </a:r>
                      <a:r>
                        <a:rPr lang="en-TT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 dirty="0">
                          <a:solidFill>
                            <a:srgbClr val="FF0000"/>
                          </a:solidFill>
                          <a:effectLst/>
                          <a:latin typeface="Google Sans Text"/>
                        </a:rPr>
                        <a:t>FAIL / TIMEOUT</a:t>
                      </a:r>
                      <a:r>
                        <a:rPr lang="en-TT" sz="1400" dirty="0">
                          <a:solidFill>
                            <a:srgbClr val="FF0000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True private subnet protection; no public visibility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723785"/>
                  </a:ext>
                </a:extLst>
              </a:tr>
              <a:tr h="545743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TT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Database Internet Test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google.com</a:t>
                      </a:r>
                      <a:r>
                        <a:rPr lang="en-TT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via curl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 dirty="0">
                          <a:solidFill>
                            <a:srgbClr val="FF0000"/>
                          </a:solidFill>
                          <a:effectLst/>
                          <a:latin typeface="Google Sans Text"/>
                        </a:rPr>
                        <a:t>FAIL</a:t>
                      </a:r>
                      <a:r>
                        <a:rPr lang="en-TT" sz="1400" dirty="0">
                          <a:solidFill>
                            <a:srgbClr val="FF0000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internet isolation; absolute compliance achieved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55296"/>
                  </a:ext>
                </a:extLst>
              </a:tr>
              <a:tr h="392253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</a:t>
                      </a:r>
                      <a:endParaRPr lang="en-TT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Ops Cross-VPC Admin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App-Server-1</a:t>
                      </a:r>
                      <a:r>
                        <a:rPr lang="en-TT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via Bastion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 dirty="0">
                          <a:solidFill>
                            <a:srgbClr val="00B050"/>
                          </a:solidFill>
                          <a:effectLst/>
                          <a:latin typeface="Google Sans Text"/>
                        </a:rPr>
                        <a:t>SUCCESS</a:t>
                      </a:r>
                      <a:r>
                        <a:rPr lang="en-TT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VPC Peering functionality verified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305893"/>
                  </a:ext>
                </a:extLst>
              </a:tr>
              <a:tr h="392253">
                <a:tc>
                  <a:txBody>
                    <a:bodyPr/>
                    <a:lstStyle/>
                    <a:p>
                      <a:pPr marL="0" marR="0" algn="ctr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</a:t>
                      </a:r>
                      <a:endParaRPr lang="en-TT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Ops Database Attack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0" i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DB-Server-1</a:t>
                      </a:r>
                      <a:r>
                        <a:rPr lang="en-TT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via Bastion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b="1" dirty="0">
                          <a:solidFill>
                            <a:srgbClr val="FF0000"/>
                          </a:solidFill>
                          <a:effectLst/>
                          <a:latin typeface="Google Sans Text"/>
                        </a:rPr>
                        <a:t>FAIL / TIMEOUT</a:t>
                      </a:r>
                      <a:r>
                        <a:rPr lang="en-TT" sz="1400" dirty="0">
                          <a:solidFill>
                            <a:srgbClr val="FF0000"/>
                          </a:solidFill>
                          <a:effectLst/>
                          <a:latin typeface="Google Sans Text"/>
                        </a:rPr>
                        <a:t>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TT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DB denies access to non-app traffic tiers </a:t>
                      </a:r>
                    </a:p>
                  </a:txBody>
                  <a:tcPr marL="57955" marR="57955" marT="38637" marB="38637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834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799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C29F-1117-0BE1-4174-878598A82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72001"/>
          </a:xfrm>
        </p:spPr>
        <p:txBody>
          <a:bodyPr/>
          <a:lstStyle/>
          <a:p>
            <a:pPr algn="ctr"/>
            <a:r>
              <a:rPr lang="en-TT" dirty="0"/>
              <a:t>Architecture Verification &amp; Regulatory Readiness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0849B-C66B-D2DA-7E6E-3AED4D5CD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T" b="1" dirty="0"/>
              <a:t>Compliance Checklist Met:</a:t>
            </a:r>
            <a:r>
              <a:rPr lang="en-TT" dirty="0"/>
              <a:t> Strict internal tier isolation verified via layered Security Groups and Network ACLs. </a:t>
            </a:r>
          </a:p>
          <a:p>
            <a:r>
              <a:rPr lang="en-TT" b="1" dirty="0"/>
              <a:t>Zero Leak DB Zone:</a:t>
            </a:r>
            <a:r>
              <a:rPr lang="en-TT" dirty="0"/>
              <a:t> Confirmed that core database storage holds zero paths to or from the internet. </a:t>
            </a:r>
          </a:p>
          <a:p>
            <a:r>
              <a:rPr lang="en-TT" b="1" dirty="0"/>
              <a:t>Resilient Architecture:</a:t>
            </a:r>
            <a:r>
              <a:rPr lang="en-TT" dirty="0"/>
              <a:t> Multi-AZ deployment ensures zero single points of failure for Crestline Bank operations. </a:t>
            </a:r>
          </a:p>
          <a:p>
            <a:pPr marL="0" indent="0">
              <a:buNone/>
            </a:pPr>
            <a:endParaRPr lang="en-TT" b="1" dirty="0"/>
          </a:p>
          <a:p>
            <a:pPr marL="0" indent="0" algn="ctr">
              <a:buNone/>
            </a:pPr>
            <a:r>
              <a:rPr lang="en-TT" b="1" dirty="0"/>
              <a:t>Ready for Live Demonstration &amp; Questions.</a:t>
            </a:r>
            <a:r>
              <a:rPr lang="en-TT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48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Thank You Signage · Free Stock Photo">
            <a:extLst>
              <a:ext uri="{FF2B5EF4-FFF2-40B4-BE49-F238E27FC236}">
                <a16:creationId xmlns:a16="http://schemas.microsoft.com/office/drawing/2014/main" id="{2BF15F5D-2965-24BF-8719-5B8D5FF09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260" r="8571" b="1"/>
          <a:stretch>
            <a:fillRect/>
          </a:stretch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871182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3519</TotalTime>
  <Words>633</Words>
  <Application>Microsoft Macintosh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Gill Sans MT</vt:lpstr>
      <vt:lpstr>Google Sans Text</vt:lpstr>
      <vt:lpstr>Wingdings</vt:lpstr>
      <vt:lpstr>Wingdings 2</vt:lpstr>
      <vt:lpstr>Dividend</vt:lpstr>
      <vt:lpstr>Crestline Bank</vt:lpstr>
      <vt:lpstr>Project Background &amp; Objective </vt:lpstr>
      <vt:lpstr>VPC Environment Scale &amp; CIDR Strategy</vt:lpstr>
      <vt:lpstr>PRODUCTION VPC, Traffic Control &amp; Gateway Architecture</vt:lpstr>
      <vt:lpstr>Layer 1 Defence: Stateful Security Groups</vt:lpstr>
      <vt:lpstr>Layer 2 Defence: Stateless Network ACLs</vt:lpstr>
      <vt:lpstr>Operations VPC &amp; Cross-VPC Peering</vt:lpstr>
      <vt:lpstr>PowerPoint Presentation</vt:lpstr>
      <vt:lpstr>Proof of Isolation Matrix</vt:lpstr>
      <vt:lpstr>Architecture Verification &amp; Regulatory Readiness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Ikenna Donald Anasieze</dc:creator>
  <cp:lastModifiedBy>Ikenna Donald Anasieze</cp:lastModifiedBy>
  <cp:revision>18</cp:revision>
  <dcterms:created xsi:type="dcterms:W3CDTF">2026-06-24T19:39:07Z</dcterms:created>
  <dcterms:modified xsi:type="dcterms:W3CDTF">2026-06-28T11:43:36Z</dcterms:modified>
</cp:coreProperties>
</file>